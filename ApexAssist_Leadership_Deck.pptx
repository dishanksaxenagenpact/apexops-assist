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5" d="100"/>
          <a:sy n="115" d="100"/>
        </p:scale>
        <p:origin x="6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B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237744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F4F59"/>
                </a:solidFill>
                <a:latin typeface="Consolas"/>
              </a:rPr>
              <a:t>● GENPACT · GENAI HACKATHON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B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411480"/>
            <a:ext cx="173736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775FA"/>
                </a:solidFill>
                <a:latin typeface="Consolas"/>
              </a:rPr>
              <a:t>POWERED BY CLAUDE</a:t>
            </a:r>
          </a:p>
        </p:txBody>
      </p:sp>
      <p:sp>
        <p:nvSpPr>
          <p:cNvPr id="11" name="Hexagon 10"/>
          <p:cNvSpPr/>
          <p:nvPr/>
        </p:nvSpPr>
        <p:spPr>
          <a:xfrm>
            <a:off x="502920" y="1051560"/>
            <a:ext cx="777240" cy="868680"/>
          </a:xfrm>
          <a:prstGeom prst="hexagon">
            <a:avLst/>
          </a:prstGeom>
          <a:solidFill>
            <a:srgbClr val="1B223A"/>
          </a:solidFill>
          <a:ln w="19050">
            <a:solidFill>
              <a:srgbClr val="977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051560"/>
            <a:ext cx="77724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9775FA"/>
                </a:solidFill>
                <a:latin typeface="Calibri"/>
              </a:rPr>
              <a:t>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097280"/>
            <a:ext cx="4572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B8C1DE"/>
                </a:solidFill>
                <a:latin typeface="Calibri"/>
              </a:rPr>
              <a:t>ApexAssist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37160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8AAE"/>
                </a:solidFill>
                <a:latin typeface="Consolas"/>
              </a:rPr>
              <a:t>by Team ApexOps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26080"/>
            <a:ext cx="109728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9775FA"/>
                </a:solidFill>
                <a:latin typeface="Calibri"/>
              </a:rPr>
              <a:t>Orchestrated by AI.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10058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B8C1DE"/>
                </a:solidFill>
                <a:latin typeface="Calibri"/>
              </a:rPr>
              <a:t>One Claude-powered Orchestrator. Seven specialist agents. Zero swivel-chair.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7492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12182C"/>
          </a:solidFill>
          <a:ln w="9525">
            <a:solidFill>
              <a:srgbClr val="1B2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239512"/>
            <a:ext cx="73152" cy="868680"/>
          </a:xfrm>
          <a:prstGeom prst="rect">
            <a:avLst/>
          </a:prstGeom>
          <a:solidFill>
            <a:srgbClr val="977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3291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9775FA"/>
                </a:solidFill>
                <a:latin typeface="Calibri"/>
              </a:rPr>
              <a:t>⚡  −72%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88152"/>
            <a:ext cx="3291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8C1DE"/>
                </a:solidFill>
                <a:latin typeface="Calibri"/>
              </a:rPr>
              <a:t>Mean Time to Resolve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507492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12182C"/>
          </a:solidFill>
          <a:ln w="9525">
            <a:solidFill>
              <a:srgbClr val="1B2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5239512"/>
            <a:ext cx="73152" cy="868680"/>
          </a:xfrm>
          <a:prstGeom prst="rect">
            <a:avLst/>
          </a:prstGeom>
          <a:solidFill>
            <a:srgbClr val="FF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9159" y="5257800"/>
            <a:ext cx="3291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4F59"/>
                </a:solidFill>
                <a:latin typeface="Calibri"/>
              </a:rPr>
              <a:t>🛡  6×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5788152"/>
            <a:ext cx="3291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8C1DE"/>
                </a:solidFill>
                <a:latin typeface="Calibri"/>
              </a:rPr>
              <a:t>Built-in Safety Guardrails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507492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12182C"/>
          </a:solidFill>
          <a:ln w="9525">
            <a:solidFill>
              <a:srgbClr val="1B2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66760" y="5239512"/>
            <a:ext cx="73152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41080" y="5257800"/>
            <a:ext cx="3291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2D3EE"/>
                </a:solidFill>
                <a:latin typeface="Calibri"/>
              </a:rPr>
              <a:t>💰  $3.2M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788152"/>
            <a:ext cx="3291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8C1DE"/>
                </a:solidFill>
                <a:latin typeface="Calibri"/>
              </a:rPr>
              <a:t>Annual Savings / 100 inc / 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7F8AAE"/>
                </a:solidFill>
                <a:latin typeface="Consolas"/>
              </a:rPr>
              <a:t>Dishank Saxena · Sreenivasan Masanamuthu · Mihir Patel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7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1B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8288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775FA"/>
                </a:solidFill>
                <a:latin typeface="Consolas"/>
              </a:rPr>
              <a:t>▸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Plan → Act → Reflect.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8C1DE"/>
                </a:solidFill>
                <a:latin typeface="Calibri"/>
              </a:rPr>
              <a:t>An Orchestrator delegates to 7 specialist agents — each with a JSON contract, audited tool-use, and SLO gates.</a:t>
            </a:r>
          </a:p>
        </p:txBody>
      </p:sp>
      <p:sp>
        <p:nvSpPr>
          <p:cNvPr id="8" name="Hexagon 7"/>
          <p:cNvSpPr/>
          <p:nvPr/>
        </p:nvSpPr>
        <p:spPr>
          <a:xfrm>
            <a:off x="5852160" y="3840480"/>
            <a:ext cx="1554480" cy="1321307"/>
          </a:xfrm>
          <a:prstGeom prst="hexagon">
            <a:avLst/>
          </a:prstGeom>
          <a:solidFill>
            <a:srgbClr val="1B223A"/>
          </a:solidFill>
          <a:ln w="31750">
            <a:solidFill>
              <a:srgbClr val="977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0" y="3977640"/>
            <a:ext cx="15544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200" b="1">
                <a:solidFill>
                  <a:srgbClr val="9775FA"/>
                </a:solidFill>
                <a:latin typeface="Calibri"/>
              </a:rPr>
              <a:t>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48056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onsolas"/>
              </a:rPr>
              <a:t>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80060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B8C1DE"/>
                </a:solidFill>
                <a:latin typeface="Consolas"/>
              </a:rPr>
              <a:t>Claude Sonnet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185416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12182C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2240280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31136"/>
            <a:ext cx="1143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32888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FBBF24"/>
                </a:solidFill>
                <a:latin typeface="Consolas"/>
              </a:rPr>
              <a:t>signal correlation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3681" y="2902381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12182C"/>
          </a:solidFill>
          <a:ln w="12700">
            <a:solidFill>
              <a:srgbClr val="F06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49401" y="2957245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441" y="2948101"/>
            <a:ext cx="1143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9441" y="3249853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F06292"/>
                </a:solidFill>
                <a:latin typeface="Consolas"/>
              </a:rPr>
              <a:t>severity scoring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6271" y="4513386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12182C"/>
          </a:solidFill>
          <a:ln w="12700">
            <a:solidFill>
              <a:srgbClr val="977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81991" y="4568250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2031" y="4559106"/>
            <a:ext cx="1143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2031" y="4860858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775FA"/>
                </a:solidFill>
                <a:latin typeface="Consolas"/>
              </a:rPr>
              <a:t>causal inference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24181" y="5805313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12182C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69901" y="5860177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9941" y="5851033"/>
            <a:ext cx="1143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Self Heal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9941" y="6152785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ADE80"/>
                </a:solidFill>
                <a:latin typeface="Consolas"/>
              </a:rPr>
              <a:t>auto-remediation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80138" y="5805313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12182C"/>
          </a:solidFill>
          <a:ln w="12700">
            <a:solidFill>
              <a:srgbClr val="F06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25858" y="5860177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5898" y="5851033"/>
            <a:ext cx="1143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Validator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5898" y="6152785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F06292"/>
                </a:solidFill>
                <a:latin typeface="Consolas"/>
              </a:rPr>
              <a:t>SLO gate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68048" y="4513386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12182C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13768" y="4568250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33808" y="4559106"/>
            <a:ext cx="1143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Smart Notify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33808" y="4860858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2D3EE"/>
                </a:solidFill>
                <a:latin typeface="Consolas"/>
              </a:rPr>
              <a:t>multi-channel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00638" y="2902381"/>
            <a:ext cx="1554480" cy="822960"/>
          </a:xfrm>
          <a:prstGeom prst="roundRect">
            <a:avLst>
              <a:gd name="adj" fmla="val 18000"/>
            </a:avLst>
          </a:prstGeom>
          <a:solidFill>
            <a:srgbClr val="12182C"/>
          </a:solidFill>
          <a:ln w="12700">
            <a:solidFill>
              <a:srgbClr val="977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46358" y="2957245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6398" y="2948101"/>
            <a:ext cx="1143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6398" y="3249853"/>
            <a:ext cx="1143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775FA"/>
                </a:solidFill>
                <a:latin typeface="Consolas"/>
              </a:rPr>
              <a:t>continuous eval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2103120"/>
            <a:ext cx="2697480" cy="841248"/>
          </a:xfrm>
          <a:prstGeom prst="roundRect">
            <a:avLst>
              <a:gd name="adj" fmla="val 12000"/>
            </a:avLst>
          </a:prstGeom>
          <a:solidFill>
            <a:srgbClr val="12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2920" y="2212848"/>
            <a:ext cx="64008" cy="621792"/>
          </a:xfrm>
          <a:prstGeom prst="rect">
            <a:avLst/>
          </a:prstGeom>
          <a:solidFill>
            <a:srgbClr val="977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2194560"/>
            <a:ext cx="237744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9775FA"/>
                </a:solidFill>
                <a:latin typeface="Consolas"/>
              </a:rPr>
              <a:t>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2468879"/>
            <a:ext cx="2377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B8C1DE"/>
                </a:solidFill>
                <a:latin typeface="Calibri"/>
              </a:rPr>
              <a:t>Decompose the incident, pick agents &amp; tools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3063239"/>
            <a:ext cx="2697480" cy="841248"/>
          </a:xfrm>
          <a:prstGeom prst="roundRect">
            <a:avLst>
              <a:gd name="adj" fmla="val 12000"/>
            </a:avLst>
          </a:prstGeom>
          <a:solidFill>
            <a:srgbClr val="12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2920" y="3172968"/>
            <a:ext cx="64008" cy="621792"/>
          </a:xfrm>
          <a:prstGeom prst="rect">
            <a:avLst/>
          </a:prstGeom>
          <a:solidFill>
            <a:srgbClr val="FF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3154679"/>
            <a:ext cx="237744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4F59"/>
                </a:solidFill>
                <a:latin typeface="Consolas"/>
              </a:rPr>
              <a:t>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428999"/>
            <a:ext cx="2377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B8C1DE"/>
                </a:solidFill>
                <a:latin typeface="Calibri"/>
              </a:rPr>
              <a:t>Invoke tools via OPA-gated catalogue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4023360"/>
            <a:ext cx="2697480" cy="841248"/>
          </a:xfrm>
          <a:prstGeom prst="roundRect">
            <a:avLst>
              <a:gd name="adj" fmla="val 12000"/>
            </a:avLst>
          </a:prstGeom>
          <a:solidFill>
            <a:srgbClr val="12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2920" y="4133088"/>
            <a:ext cx="64008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20" y="4114800"/>
            <a:ext cx="237744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Consolas"/>
              </a:rPr>
              <a:t>REFLECT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389120"/>
            <a:ext cx="2377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B8C1DE"/>
                </a:solidFill>
                <a:latin typeface="Calibri"/>
              </a:rPr>
              <a:t>Self-critique · escalate to human if needed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1828800"/>
            <a:ext cx="2697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FF4F59"/>
                </a:solidFill>
                <a:latin typeface="Consolas"/>
              </a:rPr>
              <a:t>RESPONSIBLE AI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35440" y="2240280"/>
            <a:ext cx="2514600" cy="676656"/>
          </a:xfrm>
          <a:prstGeom prst="roundRect">
            <a:avLst>
              <a:gd name="adj" fmla="val 15000"/>
            </a:avLst>
          </a:prstGeom>
          <a:solidFill>
            <a:srgbClr val="12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235440" y="2331720"/>
            <a:ext cx="64008" cy="493776"/>
          </a:xfrm>
          <a:prstGeom prst="rect">
            <a:avLst/>
          </a:prstGeom>
          <a:solidFill>
            <a:srgbClr val="FF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36608" y="2295144"/>
            <a:ext cx="228600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Human gates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6608" y="2569464"/>
            <a:ext cx="22860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B8C1DE"/>
                </a:solidFill>
                <a:latin typeface="Consolas"/>
              </a:rPr>
              <a:t>for risky tool calls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35440" y="3017520"/>
            <a:ext cx="2514600" cy="676656"/>
          </a:xfrm>
          <a:prstGeom prst="roundRect">
            <a:avLst>
              <a:gd name="adj" fmla="val 15000"/>
            </a:avLst>
          </a:prstGeom>
          <a:solidFill>
            <a:srgbClr val="12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235440" y="3108960"/>
            <a:ext cx="64008" cy="493776"/>
          </a:xfrm>
          <a:prstGeom prst="rect">
            <a:avLst/>
          </a:prstGeom>
          <a:solidFill>
            <a:srgbClr val="FF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36608" y="3072384"/>
            <a:ext cx="228600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OPA policy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36608" y="3346704"/>
            <a:ext cx="22860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B8C1DE"/>
                </a:solidFill>
                <a:latin typeface="Consolas"/>
              </a:rPr>
              <a:t>blast-radius allowlists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35440" y="3794760"/>
            <a:ext cx="2514600" cy="676656"/>
          </a:xfrm>
          <a:prstGeom prst="roundRect">
            <a:avLst>
              <a:gd name="adj" fmla="val 15000"/>
            </a:avLst>
          </a:prstGeom>
          <a:solidFill>
            <a:srgbClr val="12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235440" y="3886200"/>
            <a:ext cx="64008" cy="493776"/>
          </a:xfrm>
          <a:prstGeom prst="rect">
            <a:avLst/>
          </a:prstGeom>
          <a:solidFill>
            <a:srgbClr val="FF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436608" y="3849624"/>
            <a:ext cx="228600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PII redaction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36608" y="4123944"/>
            <a:ext cx="22860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B8C1DE"/>
                </a:solidFill>
                <a:latin typeface="Consolas"/>
              </a:rPr>
              <a:t>ingress + egress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35440" y="4572000"/>
            <a:ext cx="2514600" cy="676656"/>
          </a:xfrm>
          <a:prstGeom prst="roundRect">
            <a:avLst>
              <a:gd name="adj" fmla="val 15000"/>
            </a:avLst>
          </a:prstGeom>
          <a:solidFill>
            <a:srgbClr val="12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35440" y="4663440"/>
            <a:ext cx="64008" cy="493776"/>
          </a:xfrm>
          <a:prstGeom prst="rect">
            <a:avLst/>
          </a:prstGeom>
          <a:solidFill>
            <a:srgbClr val="FF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436608" y="4626864"/>
            <a:ext cx="228600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Immutable audit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36608" y="4901184"/>
            <a:ext cx="22860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B8C1DE"/>
                </a:solidFill>
                <a:latin typeface="Consolas"/>
              </a:rPr>
              <a:t>every prompt &amp; action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7F8AAE"/>
                </a:solidFill>
                <a:latin typeface="Consolas"/>
              </a:rPr>
              <a:t>Memory: pgvector + Neo4j  ·  Event Bus: Kafka  ·  Action: Argo Workflows  ·  Evals: PromptLayer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743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1B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8288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F4F59"/>
                </a:solidFill>
                <a:latin typeface="Consolas"/>
              </a:rPr>
              <a:t>▸ THE PAYOFF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Strategic, measurable, 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8C1DE"/>
                </a:solidFill>
                <a:latin typeface="Calibri"/>
              </a:rPr>
              <a:t>ApexAssist directly attacks the largest cost center in Genpact's ITS portfolio — incident toil.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12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73152" cy="1051560"/>
          </a:xfrm>
          <a:prstGeom prst="rect">
            <a:avLst/>
          </a:prstGeom>
          <a:solidFill>
            <a:srgbClr val="977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084832"/>
            <a:ext cx="23317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9775FA"/>
                </a:solidFill>
                <a:latin typeface="Calibri"/>
              </a:rPr>
              <a:t>87%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8346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8C1DE"/>
                </a:solidFill>
                <a:latin typeface="Calibri"/>
              </a:rPr>
              <a:t>MTTR reduction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9202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12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64992" y="2103120"/>
            <a:ext cx="73152" cy="1051560"/>
          </a:xfrm>
          <a:prstGeom prst="rect">
            <a:avLst/>
          </a:prstGeom>
          <a:solidFill>
            <a:srgbClr val="FF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1024" y="2084832"/>
            <a:ext cx="23317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F4F59"/>
                </a:solidFill>
                <a:latin typeface="Calibri"/>
              </a:rPr>
              <a:t>$3.2M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8346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8C1DE"/>
                </a:solidFill>
                <a:latin typeface="Calibri"/>
              </a:rPr>
              <a:t>Annual savings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9202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12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27064" y="2103120"/>
            <a:ext cx="73152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3096" y="2084832"/>
            <a:ext cx="23317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2D3EE"/>
                </a:solidFill>
                <a:latin typeface="Calibri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8C1DE"/>
                </a:solidFill>
                <a:latin typeface="Calibri"/>
              </a:rPr>
              <a:t>On-call toil reduction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19202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12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89136" y="2103120"/>
            <a:ext cx="73152" cy="10515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45168" y="2084832"/>
            <a:ext cx="23317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4ADE80"/>
                </a:solidFill>
                <a:latin typeface="Calibri"/>
              </a:rPr>
              <a:t>4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28346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8C1DE"/>
                </a:solidFill>
                <a:latin typeface="Calibri"/>
              </a:rPr>
              <a:t>Alert → all-clear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118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4F59"/>
                </a:solidFill>
                <a:latin typeface="Consolas"/>
              </a:rPr>
              <a:t>WHY THIS WINS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977639"/>
            <a:ext cx="3657600" cy="1691640"/>
          </a:xfrm>
          <a:prstGeom prst="roundRect">
            <a:avLst>
              <a:gd name="adj" fmla="val 10000"/>
            </a:avLst>
          </a:prstGeom>
          <a:solidFill>
            <a:srgbClr val="12182C"/>
          </a:solidFill>
          <a:ln w="9525">
            <a:solidFill>
              <a:srgbClr val="1B2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206240"/>
            <a:ext cx="73152" cy="1234440"/>
          </a:xfrm>
          <a:prstGeom prst="rect">
            <a:avLst/>
          </a:prstGeom>
          <a:solidFill>
            <a:srgbClr val="977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178807"/>
            <a:ext cx="3246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🎯  Strategic for Genpact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690872"/>
            <a:ext cx="324612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8C1DE"/>
                </a:solidFill>
                <a:latin typeface="Calibri"/>
              </a:rPr>
              <a:t>Largest IT services cost center. Proven economics. Demoable in 4 minutes.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3977639"/>
            <a:ext cx="3657600" cy="1691640"/>
          </a:xfrm>
          <a:prstGeom prst="roundRect">
            <a:avLst>
              <a:gd name="adj" fmla="val 10000"/>
            </a:avLst>
          </a:prstGeom>
          <a:solidFill>
            <a:srgbClr val="12182C"/>
          </a:solidFill>
          <a:ln w="9525">
            <a:solidFill>
              <a:srgbClr val="1B2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43400" y="4206240"/>
            <a:ext cx="73152" cy="1234440"/>
          </a:xfrm>
          <a:prstGeom prst="rect">
            <a:avLst/>
          </a:prstGeom>
          <a:solidFill>
            <a:srgbClr val="FF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720" y="4178807"/>
            <a:ext cx="3246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🧠  True agentic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690872"/>
            <a:ext cx="324612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8C1DE"/>
                </a:solidFill>
                <a:latin typeface="Calibri"/>
              </a:rPr>
              <a:t>Not a chat wrapper — plan/act/reflect, JSON contracts, tool-use, memory, learning.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80" y="3977639"/>
            <a:ext cx="3657600" cy="1691640"/>
          </a:xfrm>
          <a:prstGeom prst="roundRect">
            <a:avLst>
              <a:gd name="adj" fmla="val 10000"/>
            </a:avLst>
          </a:prstGeom>
          <a:solidFill>
            <a:srgbClr val="12182C"/>
          </a:solidFill>
          <a:ln w="9525">
            <a:solidFill>
              <a:srgbClr val="1B2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83880" y="4206240"/>
            <a:ext cx="73152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58200" y="4178807"/>
            <a:ext cx="3246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🛡️  Safe by construction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690872"/>
            <a:ext cx="324612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8C1DE"/>
                </a:solidFill>
                <a:latin typeface="Calibri"/>
              </a:rPr>
              <a:t>OPA policy, human gates, PII redaction, audit log built-in from day one.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6035040"/>
            <a:ext cx="11155680" cy="594360"/>
          </a:xfrm>
          <a:prstGeom prst="roundRect">
            <a:avLst>
              <a:gd name="adj" fmla="val 20000"/>
            </a:avLst>
          </a:prstGeom>
          <a:solidFill>
            <a:srgbClr val="12182C"/>
          </a:solidFill>
          <a:ln w="15240">
            <a:solidFill>
              <a:srgbClr val="977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6035040"/>
            <a:ext cx="59436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▶  Live demo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035040"/>
            <a:ext cx="1060704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dirty="0" err="1">
                <a:solidFill>
                  <a:srgbClr val="9775FA"/>
                </a:solidFill>
                <a:latin typeface="Consolas"/>
              </a:rPr>
              <a:t>dishanksaxenagenpact.github.io</a:t>
            </a:r>
            <a:r>
              <a:rPr sz="1200" b="0" dirty="0">
                <a:solidFill>
                  <a:srgbClr val="9775FA"/>
                </a:solidFill>
                <a:latin typeface="Consolas"/>
              </a:rPr>
              <a:t>/</a:t>
            </a:r>
            <a:r>
              <a:rPr sz="1200" b="0" dirty="0" err="1">
                <a:solidFill>
                  <a:srgbClr val="9775FA"/>
                </a:solidFill>
                <a:latin typeface="Consolas"/>
              </a:rPr>
              <a:t>apexops</a:t>
            </a:r>
            <a:r>
              <a:rPr sz="1200" b="0" dirty="0">
                <a:solidFill>
                  <a:srgbClr val="9775FA"/>
                </a:solidFill>
                <a:latin typeface="Consolas"/>
              </a:rPr>
              <a:t>-assist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62940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F8AAE"/>
                </a:solidFill>
                <a:latin typeface="Consolas"/>
              </a:rPr>
              <a:t>Team ApexOps  ·  Dishank Saxena · Sreenivasan Masanamuthu · Mihir Patel  ·  Genpact GenAI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323</Words>
  <Application>Microsoft Macintosh PowerPoint</Application>
  <PresentationFormat>Widescreen</PresentationFormat>
  <Paragraphs>78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Saxena, Dishank (CSW)</cp:lastModifiedBy>
  <cp:revision>2</cp:revision>
  <dcterms:created xsi:type="dcterms:W3CDTF">2013-01-27T09:14:16Z</dcterms:created>
  <dcterms:modified xsi:type="dcterms:W3CDTF">2026-05-16T09:11:08Z</dcterms:modified>
  <cp:category/>
</cp:coreProperties>
</file>